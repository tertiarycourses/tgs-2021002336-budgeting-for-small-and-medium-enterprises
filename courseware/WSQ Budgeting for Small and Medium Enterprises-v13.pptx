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386" r:id="rId137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646920" y="658368"/>
            <a:ext cx="1828800" cy="960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786384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SME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2435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BUDGETING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WSQ Budgeting for Small and Medium Enterprises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TGS-2021002336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v13  ·  11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· ACTA/DACE-certified adult educator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budgeting, finance, data analytics and emerging technologies.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budgeting, accounting or finance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your business or department budget to achieve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stupid.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one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LMS / TMS ·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lms-tms.tertiaryinfotech.com and log in with your registered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My Courses and select this 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Trainer Slides and Learner Guide (PDF)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Activities folder for the hands-on data files and templates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 materials handy — the assessment is open 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Budgeting Foundations, Forecasting &amp; Budget Preparation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Introduction to Financial Budgeting (Activities 1–3)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Financial Forecasting (Activity 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Budget Preparation (Activity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Budget Control, Analysis, Approval, Compliance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Budget Control Plan (Activity 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Budget Analysis (Activities 7–8)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6: Budget Approval (Activity 9)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7: Financial Compliance (Activities 10–12)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Assessment: WA (SAQ) + WA (CS)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Daily timing: 9:30am–6:30pm · 1-hour lunch · tea breaks within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Budgeting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ICT-FIN-3001-1.1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Framework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ICT Skills Framework (SkillsFuture Singapore)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Coverage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7 abilities (A1–A7) and 10 knowledge areas (K1–K10) mapped across the 7 topics.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Abilities (A1–A7)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Analyse business function strategies, functional objectives and operational plans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Carry out forecasting and budgeting for the financial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26664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Calculate the business unit's cash flow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26664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Determine the business unit's financing needs for the financial year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178808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budget data with estimations to highlight discrepancies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178808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Report budget calculations and discrepancies to organisation management to facilitate decisions on budget allocation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30952"/>
            <a:ext cx="397306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Ensure adherence to financial controls in accordance with relevant organisational corporate governance and financial policies, legislation and regulations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Knowledge (K1–K10)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Objectives, parameters and types of budgets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85074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Key principles of accounting and financial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Types of data sources and data required to prepare a budget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70479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2772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Accounting principles and practices related to budget preparation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Key principles of budgetary control and budget plans, budgetary control techniques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362651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369417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Requirements of Singapore's taxation policies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Functional objectives and key requirements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Organisational financial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K9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4792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Financial analytical techniques and methodology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1636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1636" y="546994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87668" y="553760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7668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K10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19188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Stakeholders to consult on budget calculations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Analyse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business strategies and objectives.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Forecast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out financial forecasting.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Prepare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 budget to meet cash flow requirements.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 budget control plan.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Analyse variances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financial analysis to highlight discrepancies.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LO6 · Report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Report budget and seek approval.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LO7 · Comply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financial control to ensure compliance.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70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Case Study (CS), 80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course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70 min, then WA (CS) 80 min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75% attendance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Minimum attendance rate of 75% based on the SSG Digital Attendance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87368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4215384"/>
            <a:ext cx="9427464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Competent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assessment and be assessed as 'Competent'.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Introduction to Financial Budgeting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Business strategies and objectives · Budgeting parameters · Budgeting types  (A1, K1)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Introduction to Financial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is a budget?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quantitative operational plan for acquiring and using resources over a set period — goals plus a detailed plan to achieve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three statements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company budget is expressed through the Profit &amp; Loss, Balance Sheet and Cash Flow Statement.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 internal function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Budgeting is management accounting — customised to the company's needs, unlike IFRS/GAAP financial statements.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Master Budget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Aggregates operating, financial and investing inputs from every department into one plan.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Static vs flexible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Most companies review results monthly or quarterly and re-forecast — a flexible planning model.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types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Operating, financial, capital and cash budgets; baseline, incremental, zero-based and hybrid methods.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WARM-UP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Plan Your Vacation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 budget of $3,000, how would you plan your vacation?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Think: what are your income limits, your big cost items and your trade-offs?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Share your plan — this is exactly what a company budget does at a bigger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Budget?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Goals + 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goals for the next year(s) plus a detailed plan of how to achieve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Foresight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Identifies potential opportunities and bottlenecks in advance.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 support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Helps management make important decisions when steering the company.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12–18 months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Companies typically budget when preparing for the next 12–18 months.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Operational 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Reduces uncertainty and plans for the future.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Personal analogy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Saving $1,000 in 12 months needs a plan combining income and expenses — that plan is a budget.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COMPANY BUDGET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company's budget is a detailed roadmap.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It shows what needs to be done to obtain the desired results — expressed through the three main financial statements.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FINANCIAL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Financial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Profit &amp;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Statement of Income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Revenues — the top line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Cost of Goods Sold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SG&amp;A expenses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Shows PROFITABILITY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Balance 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Statement of Financial Position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Assets: cash, receivables, inventory, PP&amp;E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Liabilities: payables, loans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Equity: owners' capital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Shows LIQUIDITY &amp; NET WORTH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Cash Flow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Cash in and cash out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Operating activities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Investing activities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Financing activities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Shows CASH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INTERNAL VS EXTERNAL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 the Budget Standardised?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Financial statements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Budgeting — internal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management-accounting function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Process depends on the company's needs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Customised as required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Accessed by internal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Financial statements — external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Governed by IFRS or GAAP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Standard formats for all companies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Used by investors, banks, IRAS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Goals of a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Quantitative 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Acquiring and using resources over a specified period.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More surplus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Increase income and reduce expenses to forecast more surplus (disposable income / profit).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Track &amp; monitor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Track sales, monitor costs and prepare a cash flow schedule.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Reduce uncertainty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operational plan for the future, updated as reality unfolds.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EMPLOYEE INVOLVEMENT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Who Prepares the Budget?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Division heads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 their unit's targets and cost plans.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Sales teams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Forecast the top line they must deliver.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Supply chain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Plans purchasing, inventory and logistics costs.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Marketing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Campaign and promotion spend.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Headcount and salary planning.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Coordinates, consolidates and controls the process.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PLANNING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Static or Flexible Budget?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Static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Flexible (most companies)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Static model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Not adjusted throughout the year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Simple, but ignores new circumstances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Flexible model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Reviewed monthly / quarterly / half-yearly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Forecasts updated with the latest estimates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Lets the company correct 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Elements of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plan expressed in financial terms for attaining an objective.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79623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Prepared and approved before a defined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1795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Shows the planned income to be generated.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3966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Shows the probable expenditure to be incurred.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6138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Indicates the capital to be employed during the period.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AGGREGATING ALL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Master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Operating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Revenue budget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Cost of sales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SG&amp;A expenses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Investing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Capital expenditure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Fixed assets &amp; depreciation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Financial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Working capital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Financing &amp; interest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Cash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CREATING A MASTER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Master Budget = P&amp;L + Balance Sheet + Cash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One document aggregating the input of every business unit, department and cost centre for the annual business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WHO SETS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Shareholders &amp; Board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More ambitious, less cautious with predictions.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Mid-management &amp; finance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Prefer forecasts that are easier to achieve.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Budgeting committee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Reconciles both views and revises the plan.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committee must explain and 'sell' the final numbers to departments.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BUDGETING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Classification of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it covers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it is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By content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Operating budget — revenue &amp; expenses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Cash budget — inflows &amp; outflows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Capital budget — long-term investments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Financial budget — funding &amp; liquidity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By method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Baseline — previous plan as the base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Incremental — % or $ on the baseline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Zero-based — starts fresh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Hybrid — a combination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Activities — Introduction to Financial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Financial Statements with Xero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Creating a Budget in Xero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Activity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Identifying Budget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Statements with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Sign up for a free Xero account, open the demo company with fictional data, and generate the three financial statements a budget is expressed through.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Income Statement, Balance Sheet and Cash Flow Statement of the Xero demo company.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 (free trial), Xero Demo Company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Statements with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display all three statements for the Xero demo company and point out where revenue, COGS, assets, liabilities, equity and net cash movement appear on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a Budget in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Xero's Budget Manager to create a budget for the demo company, comparing budgeted amounts against actuals.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12-month budget in Xero Budget Manager with budgeted amounts entered for key P&amp;L accounts.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 Budget Manager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a Budget in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saved budget shows 12 months of budgeted figures for revenue and expense accounts, and Budget Manager displays actuals alongside the budget for comparison.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Identifying Budget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Classify the budgets you built in Xero against the classification of budgets — operating, financial, capital and cash — and the preparation methods (baseline, incremental, zero-based, hybrid).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budget-type classification table for the parameters used in the previous Xero activities.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Xero, budget classification worksheet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Identifying Budget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name the budget type and preparation method for every parameter in your Xero budget and justify the classification.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Introduction to Financial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Analyse business strategies and objectives (A1, K1)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Financial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Key principles of accounting · Key principles of corporate finance · Time value of money  (A2, K2)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Financial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Accounting principles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GAAP/IFRS rules — accrual, conservatism, consistency, matching, materiality, revenue recognition and going concern.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Accrual vs cash method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Accrual records revenue when earned and expenses when incurred; cash records only when money moves.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Corporate finance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Maximising shareholder value through capital investment, capital financing and working-capital decisions.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Capital financing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Balancing debt against equity — too much debt raises default risk; too much equity dilutes earnings.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 value of money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dollar today is worth more than a dollar tomorrow — discount long-horizon budgets accordingly.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Forecasting techniques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Qualitative and quantitative methods over short, medium and long horizons; bottom-up and top-down.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are Accounting Principles?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rules and guidelines companies must follow when reporting financial data.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In the U.S., the FASB issues the standardised set known as GAAP; internationally, IFRS applies.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Budgets are built on the same principles so budget and actuals stay comparable.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GAAP / IFRS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Principles of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Accrual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revenue when earned, expenses when incurred.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Conservatism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Recognise expenses and liabilities early, revenue only when assured.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the same methods period after period.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disclosure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Report all information relevant to users.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Going concern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Assume the business continues to operate.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Matching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Match expenses to the revenue they generate.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Materiality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items significant to decisions.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Revenue recognition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Recognise revenue when the performance obligation is met.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Advantages of Accounting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Financial information about the business.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Assistance to management.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Replaces memory; facilitates comparison and benchmarking.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Facilitates settlement of tax liabilities.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Facilitates loans and sale of business.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in court; helps decision making.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FINANCIAL ACCOUNTING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Accrual vs Cash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Accrual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Accrual method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Revenue recorded when EARNED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Expenses recorded when INCURRED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Matches effort to results — required by GAAP/IFRS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Cash method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Revenue recorded when cash is RECEIVED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Expenses recorded when cash is PAID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Simple — but can mislead on profitability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CORPORATE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Principles of Corporate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 it 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division dealing with financial and investment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Maximise shareholder value through long- and short-term financial planning.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Capital investments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Deploy long-term capital through capital budgeting — identify, estimate cash flows, compare, decide.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Poor budgeting hurts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Excessive or under-funded investment compromises financing costs or operating capacity.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SOURCING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Capital Financing — Debt vs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Equity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Debt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Borrow from banks or issue debt securities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Interest is an obligation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Too much debt increases default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Equity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Sell stock to equity investors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Good for long-term expansion funding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Heavy reliance dilutes earnings and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CAPITAL INVESTMENTS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Budgeting is the key to identify and prioritise capital investments.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Capital budgeting compares planned investments with potential proceeds and decides which projects make the capital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Time Value of Money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core principle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Money available now is worth more than the same amount later, due to its earning capacity.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 one 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dollar today is worth more than a dollar tomorrow.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it matters here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Budgets span 1–10 years — long-horizon plans must account for the time value of money.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Discount future cash flows at the required rate of return.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Forecasting Horizons &amp;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How far ahead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to 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Horizons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Short term — weeks to months (cash)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Medium term — the budget year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Long term — 3 to 10 years (strategy)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Techniques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Qualitative — expert judgement, market research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Quantitative — trend, regression, time series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Bottom-up with company parameters · Top-down with macro 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Forecasting with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Xero's Budget Manager to perform a full financial forecast for the coming year from a set of business assumptions, choosing and justifying your budgeting methods.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12-month financial forecast in Xero Budget Manager reflecting all given sales, cost, headcount and capex assumptions.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 Budget Manager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Forecasting with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Budget Manager forecast reflects every assumption (10% MoM sales growth, 5% commission, 2% discount, 55% direct costs, new office from June, +3 headcount from July, $30k/month depreciation) and you can justify the method used for each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Financial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Carry out financial forecasting (A2, K2)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Budget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Cash flow calculation · Preparing the budget  (A3, K3, K4)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A3 · K3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Budget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Budgeting methods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Baseline, incremental, zero-based and hybrid — choose per account and per business need.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Key components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Fixed vs flexible expenses, total income and disposable income (surplus).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Cash budget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Estimates cash inflows and outflows weekly, monthly, quarterly or annually to prove the entity can keep operating.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Cash inflow / outflow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Inflows from sales, investments and financing; outflows for wages, rent, suppliers and dividends.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Working capital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Current assets minus current liabilities — the measure of liquidity and short-term health.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7-step master budget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Revenue → cost of sales → SG&amp;A → fixed assets → working capital → financial liabilities → compilation.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TARGETS TO APPROVED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Financial Budget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budget targets &amp; guidelines for the fiscal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Departments draft their annual plans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Budget review &amp; consolidation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Board review &amp; approved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Forecast vs actual — track variance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CHOOSE PER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Broad Budgeting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Baseline budget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Begins with a previous plan as the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Incremental budget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% or $ increment on the previous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Zero-based budget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Starts fresh like a new plan.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Hybrid budget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combination of any of the three above.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SPEAK THE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Budgeting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Fiscal year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12-month period the budget covers.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targets &amp; guidelines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Top-down goals and rules for the plan.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Annual plan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consolidated department submissions.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/ Board review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gates before approval.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Approved plan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committed budget for the year.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Forecast · Actual · Variance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Updated estimate · what happened · the difference.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Components of a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Fixed expenses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Stay the same from month to month — e.g. rent.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Flexible expenses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 from month to month — e.g. utilities.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Total income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Income from operations plus dividends, rental and other sources.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Disposable income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remains after taxes — the surplus to allocate.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BUDGETING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To balance a budget you have 2 choices: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Increase income, or decrease spending.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MAKE IT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Budgeting — Advantages &amp; Success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What makes it succeed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Advantages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Planning orientation &amp; profitability review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Assumptions &amp; performance evaluation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Funding planning &amp; cash allocation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Bottleneck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Success factors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Management support &amp; employee involvement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Clear organisational goals &amp; responsibility accounting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Flexibility &amp; communication of results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Sound accounting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CASH IS 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Cash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estimation of cash inflows and outflows over a period — weekly, monthly, quarterly or annual.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whether the entity has sufficient cash to continue operating.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Insight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Shows cash needs and surpluses for efficient allocation of cash.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Sales and expenses must be managed to an optimal level of cash 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TIME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Short-Term vs Long-Term Cash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Weeks–months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Quarters–years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Short-term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Utility bills, rent, payroll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Payments to suppliers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Operating expenses &amp; investments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Long-term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Quarterly and annual tax payments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Capital expenditure projects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Long-term investments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CASH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Cash Inflow vs Cash Outflow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Outflow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Cash inflow — money coming in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Sales revenue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Investments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Financing received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Healthy: inflow &gt; outflow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Cash outflow — money going out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Staff wages &amp; office rent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Supplier payments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Dividends to shareholders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Unhealthy: outflow &gt; inflow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LIQUIDITY &amp;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Working Capital &amp; Cost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Working capital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assets − current liabilities — the measure of liquidity and short-term health.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Working capital days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Receivable, payable and inventory days drive the cash cycle.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Fixed cost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not vary with volume — rent, salaries, depreciation.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Variable cost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Varies with volume — materials, commissions, ad spend.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99 AGENCY CASE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7-Step Master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870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870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Revenue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40864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40864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923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23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Cost of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04488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04488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55948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5594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2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SG&amp;A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8112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68112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1957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957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4416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Fixed assets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31736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31736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8319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319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Working capital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4682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4682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41664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Liabilities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151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58984" y="233172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58984" y="2331720"/>
            <a:ext cx="125272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1044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1044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05288" y="374904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Master Budget Preparation — 99 Agency Case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Prepare a one-year Master Budget (Income Statement, Balance Sheet and Cash Flow Statement) for the fictitious company 99 Agency, working through the seven budget schedules on the provided template.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 Master Budget for 99 Agency — P&amp;L, Balance Sheet and Cash Flow — consolidated from the seven schedules and presented to the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99 Agency case study, Excel / Google Sheets working template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Master Budget Preparation — 99 Agency Case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99 Agency Master Budget consolidates all seven schedules; the Balance Sheet balances, closing cash ties across statements, and you presented the budget with its assumptions.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Budget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Prepare budget to meet cash flow requirements (A3, K3, K4)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Day 2 starts at 9:30 am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Budget Control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Preparing the budget control plan · Budgetary control techniques  (A4, K5, K7)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A4 · K5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Budget Control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Budgetary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Prepare budgets, compare standards with actual performance, find the reasons for differences and take corrective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Operating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Covers revenue and operating expenses to protect day-to-day operations and target EBITDA.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Cash flow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Compares forecast inflows/outflows with actuals so obligations are always covered; invests idle cash.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Capex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Plans and manages large capital expenditures so only profitable investments are made, at the right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Road map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the budget collaboratively, document policies, train users and designate a budget manager.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Accountability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Managers are responsible and accountable for their department budgets, on one source of truth.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BUDGET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Budgetary control: compare, explain, 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Prepare budgets, compare them with actual performance, find the reasons for the differences and take corrective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CONTROL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Budgetary Control Process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Prepare budgets for the future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actual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actuals with the budget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Investigate the reasons for differences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Take corrective 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Types of Budget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Operating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Covers revenues &amp; operating expenses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Protects day-to-day operations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Targets the desired EBITDA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Cash flow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Forecast vs actual inflows/outflows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Ensures obligations are always covered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Invests idle cash for returns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Capex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Plans large capital expenditures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Only profitable investments proceed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Decisions taken at the right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Process Road Map &amp; Control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Develop the budget collaboratively, involving all stakeholders.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Document and communicate policies and procedures; ensure all stakeholders understand their roles.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Understand the users of the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Provide training to those involved in the budget process.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Link cost-management efforts to the budgeting.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Conduct company-wide meetings to establish budget timelines and responsibilities.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Process Road Map &amp; Control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Designate a budget manager to coordinate the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adequate hardware and software to support budgeting; avoid re-keying data and use templates.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Develop budgets that are flexible for changing conditions.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Ensure the integrity of systems, databases and records.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Make data available electronically to budget users.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Managers are responsible and accountable for their department budgets.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Check Quiz — Budget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Check your understanding of budgetary control — the control types, the control process steps and the budget process road map — with an online quiz.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submitted quiz on budget control with your score reviewed against the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 Forms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Check Quiz — Budget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submitted the quiz and can explain any question you got wrong — especially the three types of budget control and the corrective-action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Budget Control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Prepare budget control plan (A4, K5, K7)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Budget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Compare budget with estimation · Financial methodologies for budget control  (A5, K8, K9)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A5 · K8 K9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Budget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vs actual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Variance = actual − budget, in dollars and as a % — displayed on a Budget-to-Actual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Adverse variance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Actual income below budget or expenditure above budget — a deficit to investigate.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Favourable variance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Actual income above budget or expenditure below budget — a surplus to substantiate.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Thresholds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overspends and underspends with clear dollar or percentage variance thresholds.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Analysis techniques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Vertical and horizontal analysis, benchmarking, and P&amp;L / Balance-Sheet / ratio KPIs.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Technology &amp; BI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Move beyond Excel — ERP budgeting modules and BI dashboards (Power BI on Xero) for insight.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· Actual · Variance ·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Budget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Sales budgeted at $500,000 for the period.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$400,000 of sales were made.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Variance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($100,000) — and ($100,000) ÷ $500,000 = (20%) below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Dollar and percentage variances appear on the Budget-to-Actual report.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KNOW 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vs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Forecast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financial plan prepared in advance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The financial expression of the business target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Sets targets · updated annually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Variance analysis: 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Forecast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Estimation of future trends from past and present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Prediction of what the business WILL achieve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 targets · updated at regular intervals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Variance analysis: 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READ THE 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Types of Variances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Adverse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Favourable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Adverse variance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Actual income LESS than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Actual expenditure MORE than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deficit — investigate and 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Favourable variance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Actual income MORE than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Actual expenditure LESS than budget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surplus — substantiate and 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VARIANCE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Overspend / Underspend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Manage underspends and overspends by setting clear-cut thresholds.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Thresholds can be a dollar value (e.g. ±$5,000) or a percentage (e.g. ±10%).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Variances beyond the threshold trigger investigation and management action.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Both favourable and adverse variances above the threshold must be substantiated.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FINANCIAL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Vertical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Each line as a % of revenue (P&amp;L)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or of total assets (BS)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Compare structure across periods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Horizontal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Change vs the prior period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 dollars and percentages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Reveals trends over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Compare against industry peers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Identify performance gaps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realistic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MEASURE WHAT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KPIs for Budget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Income Statement KPIs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Revenue growth, gross margin, EBITDA margin, net margin.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Balance Sheet KPIs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Working capital, receivable/payable days, asset turnover.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Liquidity ratios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Current ratio, quick ratio — can we pay short-term obligations?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Profitability KPIs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ROA, ROE, return on capital employed.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Solvency KPIs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Debt-to-equity, interest cover — long-term resilience.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Financial ratios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Tie every KPI back to the budget assumptions.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Ways to Improve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budgeting and forecasting flexible; implement rolling forecasts.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Budget to your plan and be clear about goals — measurable KPIs and metrics.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Communicate early and often; involve your entire team.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for various scenarios — models and benchmarking.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Track everything; include profit AND cash flow goals.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Let Excel go — adopt purpose-built tools.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BEYOND SPREADSHEETS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Technology &amp; Budgeting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ERP modules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SAP, Oracle, NetSuite — holistic budgeting and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Budgeting 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Anaplan, Quicken, Mint — sync directly to the GL or financial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BI dashboards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Tableau, Power BI, SAP BI — valuable data insights.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Transparency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Common taxonomy and reporting structure — one source of truth.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BI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Microsoft Power BI on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Analyse cash flow, overdue invoices and bills, and profitability by integrating Xero with Power BI.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Power BI imports Xero contacts, invoices, bills and trial balance daily to build a dashboard and reports.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 need a Power BI Pro licence or trial, and the advisor or standard user role in Xero.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Multiple organisations can connect from one Power BI account — each in its own workspace.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Activities — Budget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Budget Variance Analysis in Xero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Budget Analysis Dashboard with Power BI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Variance Analysis in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Compare your Xero budget against actual performance, identify favourable and adverse variances, substantiate them as a budget manager and present the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budget-to-actual variance analysis report identifying and substantiating favourable and adverse variances, presented to the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Xero Budget Manager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Variance Analysis in Xero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report shows dollar and percentage variances for each key account, labels each as favourable or adverse, substantiates the material ones, and was presented to the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Analysis Dashboard with Power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Connect Microsoft Power BI to your Xero organisation and build a dashboard that analyses cash flow, overdue invoices and bills, and profitability.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Power BI dashboard fed daily from Xero contacts, invoices, bills and trial balance.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Power BI, Xero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Analysis Dashboard with Power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Power BI displays the Xero dashboard for your organisation and you can read off cash-flow, receivables and profitability insights that support budget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Budget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LO5 — Perform financial analysis to highlight discrepancies (A5, K8, K9)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Budget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Budget approval process · Stakeholder precautions  (A6, K10)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A6 · K10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Budget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Stakeholders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Boards are ambitious, mid-management conservative — the budgeting committee reconciles and 'sells' the final numbers.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Approval pack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of past year, goals and objectives, rolling forecast, plan details and realistic costs.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Approval process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Draft → departmental review → budget committee → board approval → communicated plan.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Communicate fast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approved plan adds no value until business units receive it and start tracking performance.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Common issues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Slow approvals, no tracking framework, manual effort and no single source of truth for spend.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Right tooling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Robust tracking tools, frameworks and resources make approval meaningful.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DRAFT TO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Annual Budget Approval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Departments submit draft budgets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Budget committee reviews &amp; consolidates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Revisions — numbers are 'opened up' and re-sold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Board reviews and approves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Approved plan communicated for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TO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Precautions — the Approval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 of past year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Highlight your successes and changes to last year's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Goals and objectives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succinct overview of the basis for your plan.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Forecast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Rolling monthly/quarterly forecast of plans including costs, in bullets.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Plan details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Outline key operational areas and specific projects.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Costs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Realistic costs for each project and operational expense.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Approval — Common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approval process takes longer than it should.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79623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approved plan is not communicated to business units in time to start tracking.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1795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Approval adds no value without a robust tracking tool, framework and resources.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3966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Manual effort makes budgeting tiring — nobody wants to do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6138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 transparency on spend without one golden source of truth.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06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Check Quiz — Budget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Check your understanding of the budget approval process, the stakeholder precautions and the common approval issues with an online quiz.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submitted quiz on budget approval with your score reviewed against the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 Forms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Check Quiz — Budget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submitted the quiz and can walk through the approval pack a budget manager presents — and the common issues that stall approval.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Budget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LO6 — Report budget and seek approval (A6, K10)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Financial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Singapore taxation policies · Financial control and compliance  (A7, K6)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COVERAGE A7 ·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Financial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Corporate tax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companies pay tax under the Income Tax Act on income derived from or remitted into Singapore — flat 17% on chargeable income.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Tax residency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company is tax-resident where control and management are exercised — usually where board meetings are held.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Year of 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12-month period in which income is assessed — YA follows the financial year 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Start-Up Exemption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First 3 YAs: 75% exemption on the first S$100k and 50% on the next S$100k of chargeable income.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ECI &amp; filing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File Estimated Chargeable Income within 3 months of FY end; e-File corporate tax by 30 Nov.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Penalties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Late filing risks prosecution; late payment attracts 5% penalty plus 1% per month up to 12%.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TAX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Singapore Corporate Taxation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Who pays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companies pay corporate tax under the Income Tax Act on chargeable income derived from Singapore or foreign income remitted into Singapore.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Flat rate 17%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Levied on chargeable income = taxable revenues − deductible expenses.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Tax residency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Resident where control and management are exercised — generally where board meetings are held.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Resident benefits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Start-up exemptions and Avoidance of Double Taxation Agreements (DTAs).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TIMELINES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Year of Assessment (YA)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Definition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12-month period in which the company's income is assessed.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Income earned in a financial year is assessed in the YA following the financial year 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 YA 2018, the basis period is generally 1 Apr 2016 – 31 Mar 2017.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 it matters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YA determines exemption eligibility and every filing deadline.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TAX-RESIDENT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Start-Up Tax Exemption (first 3 YAs)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75% exemption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 the first S$100,000 of chargeable income (from YA 2020).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50% exemption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 the next S$100,000 of chargeable income.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Withholding tax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Payable on certain payments to non-resident companies.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DTA relief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Tax-residents avoid double taxation on income taxed in DTA partner countries.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FILING DEADLINES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ECI &amp; Corporate Tax Filing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Income 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ECI — Estimated Chargeable Income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 estimate of taxable income for the YA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File within 3 months of the financial year end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Applies to all companies unless exempted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Corporate tax return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e-File by 30 November (paper phased out from YA 2020)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15 December online concession no longer applies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All corporate tax documents filed annually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Penalties for Late or Non-Payment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Late filing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offence — company officers (e.g. directors) may be prosecuted in court.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Late payment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5% penalty, plus 1% per month the tax remains unpaid (up to 12% in total).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Enforcement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IRAS may take further enforcement or legal action to recover unpaid tax.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Stay compliant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 tax deadlines into the budget calendar and cash budget.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Activities — Financial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Determining the Year of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ECI and Corporate Tax Filing Deadlines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Activity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Start-Up Tax Computation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Determining the Year of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Work out the Year of Assessment (YA) for a set of company financial years, applying IRAS's rule that the YA is the year following the financial year 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YA worksheet mapping each financial year to its Year of Assessment.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YA worksheet, IRAS website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Determining the Year of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worksheet assigns the correct YA to all three financial years (YA 2021, YA 2021 and YA 2021 respectively — the YA following each financial year end).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ECI and Corporate Tax Filing Deadlines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Determine when a company must file its Estimated Chargeable Income (ECI) and its corporate income tax return for a set of financial year ends.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filing-deadline worksheet showing the ECI deadline and income-tax filing deadline for each financial year.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Filing-deadline worksheet, IRAS website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ECI and Corporate Tax Filing Deadlines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worksheet shows the ECI deadline (FY end + 3 months) and the correct income-tax e-Filing deadline for each financial year, and you can state the late-filing and late-payment penalties.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07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Start-Up Tax Computation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Compute the corporate tax payable by a start-up over its first five years of profits, applying the Start-Up Tax Exemption Scheme and the 17% corporate tax 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5-year tax computation for a start-up using the provided template.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Tax computation template (Google Classroom), calculator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Detailed step-by-step instructions are in the Learner Guide.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Start-Up Tax Computation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template shows, for each of the five years, the exemption applied, the chargeable income after exemption and the tax at 17% — with years 1–3 using the Start-Up Tax Exemption.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Financial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LO7 — Perform financial control to ensure compliance (A7, K6)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Budgeting foundations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Analysed strategies, statements and budget types with Xero (LO1).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Financial forecasting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Forecast a full year in Xero Budget Manager from real assumptions (LO2).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preparation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Built the 99 Agency master budget through all 7 schedules (LO3).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Prepared control plans across operating, cash and capex budgets (LO4).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Budget analysis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Analysed variances and built a Power BI dashboard on Xero (LO5).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Approval &amp; compliance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Reported budgets for approval and applied Singapore tax rules (LO6, LO7).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IBF — Financial Analysis for Non-Finance Managers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WSQ — Accounting for Non-Finance Managers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WSQ — Generative AI for Finance and Fintech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WSQ — Unlocking the Power of Accounting and Tax Systems for SMEs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WSQ — Python Programming for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and after the class, contact us: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70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Case Study (CS), 80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course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70 min, then WA (CS) 80 min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BUDGETING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forecast, prepare, control, analyse and report the budget of a small or medium enterprise.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Budgeting for Small and Medium Enterprises  ·  TGS-2021002336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pic>
        <p:nvPicPr>
          <p:cNvPr id="39" name="Picture 38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004" y="1851660"/>
            <a:ext cx="7967686" cy="396392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777240" y="5897880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