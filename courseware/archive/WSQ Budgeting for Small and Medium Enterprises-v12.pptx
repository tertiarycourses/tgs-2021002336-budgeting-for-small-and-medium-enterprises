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435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BUDGETING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WSQ Budgeting for Small and Medium Enterprises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TGS-2021002336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v12  ·  10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· ACTA/DACE-certified adult educator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budgeting, finance, data analytics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budgeting, accounting or finance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your business or department budget to achieve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 and log in with your registered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Trainer Slides and Learner Guide (PDF)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Activities / Lab folder for the hands-on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materials handy — the assessment is open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Budgeting Foundations, Forecasting &amp; Budget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Introduction to Financial Budgeting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Financial Forecasting (Lab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Budget Preparation (Lab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Budget Control, Analysis, Approval, Compliance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Budget Control Plan (Lab 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Budget Analysis (Labs 7–8)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6: Budget Approval (Lab 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7: Financial Compliance (Labs 10–12)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Assessment: WA (SAQ) + WA (CS)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Budgeting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ICT-FIN-3001-1.1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 Skills Framework (SkillsFuture Singapore)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 abilities (A1–A7) and 10 knowledge areas (K1–K10) mapped across the 7 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 (A1–A7)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business function strategies, functional objectives and operational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Carry out forecasting and budgeting for the financial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Calculate the business unit's cash flow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Determine the business unit's financing needs for the financial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budget data with estimations to highlight discrepancies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budget calculations and discrepancies to organisation management to facilitate decisions on budget allocation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30952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Ensure adherence to financial controls in accordance with relevant organisational corporate governance and financial policies, legislation and regulations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(K1–K10)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Objectives, parameters and types of budgets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accounting and financial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Types of data sources and data required to prepare a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Accounting principles and practices related to budget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budgetary control and budget plans, budgetary control techniques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Requirements of Singapore's taxation policies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Functional objectives and key requirements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Organisational financial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Financial analytical techniques and methodology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Stakeholders to consult on budget calculations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business strategies and objectives.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Forecast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out financial forecasting.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to meet cash flow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control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Analyse variances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analysis to highlight discrepancies.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LO6 · 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 budget and seek approval.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LO7 · Comply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control to ensure compliance.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Minimum attendance rate of 75%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215384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Competent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Financial Budgeting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strategies and objectives · Budgeting parameters · Budgeting types 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budget?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quantitative operational plan for acquiring and using resources over a set period — goals plus a detailed plan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three 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budget is expressed through the Profit &amp; Loss, Balance Sheet and Cash Flow Statement.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 internal function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Budgeting is management accounting — customised to the company's needs, unlike IFRS/GAAP financial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Aggregates operating, financial and investing inputs from every department into one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Static vs flexible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companies review results monthly or quarterly and re-forecast — a flexible planning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Operating, financial, capital and cash budgets; baseline, incremental, zero-based and hybrid methods.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Plan Your Vacation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 budget of $3,000, how would you plan your vacation?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Think: what are your income limits, your big cost items and your trade-offs?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Share your plan — this is exactly what a company budget does at a bigger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Goals +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goals for the next year(s) plus a detailed plan of how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Foresight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potential opportunities and bottlenecks in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Helps management make important decisions when steering the company.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12–18 months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Companies typically budget when preparing for the next 12–18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Reduces uncertainty and plans for the future.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Personal analogy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Saving $1,000 in 12 months needs a plan combining income and expenses — that plan is a budget.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COMPANY BUDGET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company's budget is a detailed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shows what needs to be done to obtain the desired results — expressed through the three main financial statements.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Profit &amp;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Income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Revenues — the top 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Goods Sold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PROFITABILITY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Balance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Financial Position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Assets: cash, receivables, inventory, PP&amp;E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Liabilities: payables, loans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Equity: owners'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LIQUIDITY &amp; NET WORTH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in and cash out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Operating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CASH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INTERNAL VS EXTERNAL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Budget Standardised?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Financial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Budgeting — internal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management-accounting function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Process depends on the company's needs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Customised as required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Accessed by internal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Financial statements — external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Governed by IFRS or GAAP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Standard formats for all companies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Used by investors, banks, IRAS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Goals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Quantitative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Acquiring and using resources over a specified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surplus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Increase income and reduce expenses to forecast more surplus (disposable income / profit).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Track &amp;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sales, monitor costs and prepare a cash flow schedule.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 uncertainty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operational plan for the future, updated as reality unfolds.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EMPLOYEE INVOLVEMENT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 Prepares the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Division heads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 their unit's targets and cost plans.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Sales teams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the top line they must deliver.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Plans purchasing, inventory and logistics costs.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Campaign and promotion spend.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Headcount and salary planning.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Coordinates, consolidates and controls the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PLANNING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or Flexible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Flexible (most companies)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Static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Not adjusted throughout the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Simple, but ignores new circumstances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Flexible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Reviewed monthly / quarterly / half-yearly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Forecasts updated with the latest estimates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Lets the company correct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plan expressed in financial terms for attaining an objective.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Prepared and approved before a defined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planned income to be generated.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probable expenditure to be incurred.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Indicates the capital to be employed during the period.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AGGREGATING ALL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 budget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sales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Investing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Capital expenditure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Fixed assets &amp; depreciation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Financial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&amp; interest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CREATING A MASTER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Master Budget = P&amp;L + Balance Sheet + Cash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One document aggregating the input of every business unit, department and cost centre for the annual business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SETS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Shareholders &amp; Board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ambitious, less cautious with predictions.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Mid-management &amp; 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 forecasts that are easier to achieve.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committee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Reconciles both views and revises the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committee must explain and 'sell' the final numbers to departments.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BUDGETING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Classification of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content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budget — revenue &amp; expenses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Cash budget — inflows &amp; outflows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budget — long-term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Financial budget — funding &amp; liquidity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Baseline — previous plan as the base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Incremental — % or $ on the baseline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Zero-based — starts fresh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Hybrid — a combination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Financial Statements with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a Budget in Xero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Identifying Budget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Sign up for a free Xero account, open the demo company with fictional data, and generate the three financial statements a budget is expressed 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Income Statement, Balance Sheet and Cash Flow Statement of the Xero demo company.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(free trial), Xero Demo Company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display all three statements for the Xero demo company and point out where revenue, COGS, assets, liabilities, equity and net cash movement appear on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create a budget for the demo company, comparing budgeted amounts against actuals.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budget in Xero Budget Manager with budgeted amounts entered for key P&amp;L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saved budget shows 12 months of budgeted figures for revenue and expense accounts, and Budget Manager displays actuals alongside the budget for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Classify the budgets you built in Xero against the classification of budgets — operating, financial, capital and cash — and the preparation methods (baseline, incremental, zero-based, hybrid).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budget-type classification table for the parameters used in the previous Xero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Xero, budget classification worksheet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name the budget type and preparation method for every parameter in your Xero budget and justify the classification.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Analyse business strategies and objectives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Key principles of accounting · Key principles of corporate finance · Time value of money 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Accounting principles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GAAP/IFRS rules — accrual, conservatism, consistency, matching, materiality, revenue recognition and going concern.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 vs cash 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Accrual records revenue when earned and expenses when incurred; cash records only when money moves.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finance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Maximising shareholder value through capital investment, capital financing and working-capital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financing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Balancing debt against equity — too much debt raises default risk; too much equity dilutes earnings.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value of money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dollar today is worth more than a dollar tomorrow — discount long-horizon budgets accordingly.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Forecasting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Qualitative and quantitative methods over short, medium and long horizons; bottom-up and top-down.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are Accounting Principles?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rules and guidelines companies must follow when reporting financial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In the U.S., the FASB issues the standardised set known as GAAP; internationally, IFRS applies.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Budgets are built on the same principles so budget and actuals stay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GAAP / IFRS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revenue when earned, expenses when incurred.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Conservatism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expenses and liabilities early, revenue only when assured.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the same methods period after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disclosure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all information relevant to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Going concern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Assume the business continues to operate.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Matching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expenses to the revenue they generate.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items significant to decisions.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 recognition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revenue when the performance obligation is met.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Advantages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information about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Assistance to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Replaces memory; facilitates comparison and benchmarking.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settlement of tax liabilities.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loans and sale of business.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in court; helps decision making.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ACCOUNTING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Accrual vs Cash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Accrual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Accrual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EARNED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INCURRED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Matches effort to results — required by GAAP/IFRS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cash is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cash is PAID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— but can mislead on 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CORPORATE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Corporate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division dealing with financial and investment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Maximise shareholder value through long- and short-term financial planning.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 investments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 long-term capital through capital budgeting — identify, estimate cash flows, compare, decide.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Poor budgeting hurts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Excessive or under-funded investment compromises financing costs or operating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Financing — Debt vs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Debt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Borrow from banks or issue debt securities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Interest is an obligation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Too much debt increases default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Equity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Sell stock to equity investors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Good for long-term expansion funding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Heavy reliance dilutes earnings and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CAPITAL INVESTMENTS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Budgeting is the key to identify and prioritise capital investments.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Capital budgeting compares planned investments with potential proceeds and decides which projects make the capital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Value of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core principle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Money available now is worth more than the same amount later, due to its earning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one 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dollar today is worth more than a dollar tomorrow.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 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Budgets span 1–10 years — long-horizon plans must account for the time value of money.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Discount future cash flows at the required rate of return.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Forecasting Horizons &amp;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far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to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Horizons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Short term — weeks to months (cash)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Medium term — the budget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 term — 3 to 10 years (strategy)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Techniques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Qualitative — expert judgement, market research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Quantitative — trend, regression, time series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Bottom-up with company parameters · Top-down with macro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perform a full financial forecast for the coming year from a set of business assumptions, choosing and justifying your budgeting methods.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financial forecast in Xero Budget Manager reflecting all given sales, cost, headcount and capex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Budget Manager forecast reflects every assumption (10% MoM sales growth, 5% commission, 2% discount, 55% direct costs, new office from June, +3 headcount from July, $30k/month depreciation) and you can justify the method used for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Carry out financial forecasting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Cash flow calculation · Preparing the budget 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A3 · K3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methods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Baseline, incremental, zero-based and hybrid — choose per account and per business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 vs flexible expenses, total income and disposable income (surplus).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Estimates cash inflows and outflows weekly, monthly, quarterly or annually to prove the entity can keep operating.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inflow / outflow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Inflows from sales, investments and financing; outflows for wages, rent, suppliers and dividends.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assets minus current liabilities — the measure of liquidity and short-term health.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7-step 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→ cost of sales → SG&amp;A → fixed assets → working capital → financial liabilities → compilation.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TARGETS TO 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Budget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budget targets &amp; guidelines for the fiscal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draft their annual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review &amp; consolidation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 &amp; approved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 vs actual — track variance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CHOOSE PER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Budgeting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Begins with a previous plan as the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Incremental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% or $ increment on the previous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Zero-based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Starts fresh like a new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Hybrid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combination of any of the three above.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SPEAK THE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Fiscal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the budget covers.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targets &amp; guidelines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Top-down goals and rules for the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Annual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consolidated department submissions.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/ Board 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gates before approval.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Approved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committed budget for the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 · Actual ·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Updated estimate · what happened · the difference.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Components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Stay the same from month to month — e.g. 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Flexible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from month to month — e.g. utilities.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from operations plus dividends, rental and other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Disposable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remains after taxes — the surplus to allocate.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BUDGETING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To balance a budget you have 2 choices: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Increase income, or decrease spending.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— Advantages &amp; Success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makes it succeed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Advantages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Planning orientation &amp; profitability review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Assumptions &amp; performance evaluation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Funding planning &amp; cash allocation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Bottleneck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Success factors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Management support &amp; employee involvement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Clear organisational goals &amp; responsibility accounting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Flexibility &amp; communication of results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Sound accounting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IS 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estimation of cash inflows and outflows over a period — weekly, monthly, quarterly or annual.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whether the entity has sufficient cash to continue operating.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Shows cash needs and surpluses for efficient allocation of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and expenses must be managed to an optimal level of cash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Short-Term vs Long-Term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Weeks–months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Quarters–years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Short-term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Utility bills, rent, payroll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Payments to suppliers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expenses &amp;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Quarterly and annual tax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expenditure projects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investments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Inflow vs Cash Outflow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Outflow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inflow — money coming 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Sales revenue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Financing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Healthy: inflow &gt; outflow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outflow — money going out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Staff wages &amp; office 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Supplier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Dividends to shareholders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Unhealthy: outflow &gt; inflow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LIQUIDITY &amp;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Capital &amp; Cost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assets − current liabilities — the measure of liquidity and short-term health.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 days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Receivable, payable and inventory days drive the cash 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not vary with volume — rent, salaries, depreciation.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Variable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Varies with volume — materials, commissions, ad spend.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99 AGENCY CASE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7-Step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086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923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23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4488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594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594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2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SG&amp;A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8112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68112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Fixed 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31736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319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319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Working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682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682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5898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5898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1044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1044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a one-year Master Budget (Income Statement, Balance Sheet and Cash Flow Statement) for the fictitious company 99 Agency, working through the seven budget schedules on the provided template.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Master Budget for 99 Agency — P&amp;L, Balance Sheet and Cash Flow — consolidated from the seven schedules and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99 Agency case study, Excel / Google Sheets working template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99 Agency Master Budget consolidates all seven schedules; the Balance Sheet balances, closing cash ties across statements, and you presented the budget with its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Prepare budget to meet cash flow requirements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Day 2 starts at 9:30 am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Control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Preparing the budget control plan · Budgetary control techniques 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A4 · K5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Budgetary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budgets, compare standards with actual performance, find the reasons for differences and take corrective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Covers revenue and operating expenses to protect day-to-day operations and target EBITDA.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flow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Compares forecast inflows/outflows with actuals so obligations are always covered; invests idle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Capex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Plans and manages large capital expenditures so only profitable investments are made, at the right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Road 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the budget collaboratively, document policies, train users and designate a budget manager.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Managers are responsible and accountable for their department budgets, on one source of truth.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Budgetary control: compare, explain,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Prepare budgets, compare them with actual performance, find the reasons for the differences and take corrective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Budgetary Control Process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 budgets for the future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actual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actuals with the budget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Investigate the reasons for differences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corrective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revenues &amp; operating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Protects day-to-day operations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Targets the desired 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Cash flow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Forecast vs actual inflows/outflows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Ensures obligations are always covered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Invests idle cash for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Capex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Plans large capital expenditures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Only profitable investments proceed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Decisions taken at the right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the budget collaboratively, involving all stakeholders.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and communicate policies and procedures; ensure all stakeholders understand their roles.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Understand the users of the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training to those involved in the budget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cost-management efforts to the budgeting.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Conduct company-wide meetings to establish budget timelines and responsibilities.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Designate a budget manager to coordinate the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adequate hardware and software to support budgeting; avoid re-keying data and use templates.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budgets that are flexible for changing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Ensure the integrity of systems, databases and records.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Make data available electronically to budget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Managers are responsible and accountable for their department budgets.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budgetary control — the control types, the control process steps and the budget process road map —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control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explain any question you got wrong — especially the three types of budget control and the corrective-action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Prepare budget control plan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budget with estimation · Financial methodologies for budget control 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A5 · K8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vs actual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Variance = actual − budget, in dollars and as a % — displayed on a Budget-to-Actual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Adverse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below budget or expenditure above budget — a deficit to investigate.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Favourable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above budget or expenditure below budget — a surplus to substantiate.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Thresholds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overspends and underspends with clear dollar or percentage variance thresholds.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Analysis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Vertical and horizontal analysis, benchmarking, and P&amp;L / Balance-Sheet / ratio KPIs.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Technology &amp; BI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beyond Excel — ERP budgeting modules and BI dashboards (Power BI on Xero) for insight.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· Actual · Variance ·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budgeted at $500,000 for the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$400,000 of sales were made.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($100,000) — and ($100,000) ÷ $500,000 = (20%) below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Dollar and percentage variances appear on the Budget-to-Actual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vs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financial plan prepared in advance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financial expression of the business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Sets targets · updated annually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Estimation of future trends from past and present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Prediction of what the business WILL achieve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targets · updated at regular intervals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 THE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Variances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Favourable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Adverse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deficit — investigate and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Favourable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surplus — substantiate and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VARIANCE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Overspend / Underspend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Manage underspends and overspends by setting clear-cut thresholds.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Thresholds can be a dollar value (e.g. ±$5,000) or a percentage (e.g. ±10%).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Variances beyond the threshold trigger investigation and management action.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Both favourable and adverse variances above the threshold must be substantiated.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Vertical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line as a % of revenue (P&amp;L)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or of total assets (BS)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structure across periods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Horizontal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vs the prior period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 dollars and percentages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Reveals trends over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against industry peers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 performance gaps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realistic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KPIs for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Income Statement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growth, gross margin, EBITDA margin, net margin.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Balance Sheet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capital, receivable/payable days, asset turnover.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Liquidity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ratio, quick ratio — can we pay short-term obligations?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Profitability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ROA, ROE, return on capital employed.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Solvency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Debt-to-equity, interest cover — long-term resilience.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Tie every KPI back to the budget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Improve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budgeting and forecasting flexible; implement rolling forecasts.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Budget to your plan and be clear about goals — measurable KPIs and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Communicate early and often; involve your entire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for various scenarios — models and benchmarking.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everything; include profit AND cash flow goals.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Let Excel go — adopt purpose-built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SPREADSHEETS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&amp;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ERP modules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SAP, Oracle, NetSuite — holistic budgeting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Anaplan, Quicken, Mint — sync directly to the GL or financial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BI dashboards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Tableau, Power BI, SAP BI — valuable data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Common taxonomy and reporting structure — one source of truth.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BI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Microsoft Power BI on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Analyse cash flow, overdue invoices and bills, and profitability by integrating Xero with Power BI.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Power BI imports Xero contacts, invoices, bills and trial balance daily to build a dashboard and reports.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need a Power BI Pro licence or trial, and the advisor or standard user role in Xero.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Multiple organisations can connect from one Power BI account — each in its own workspace.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Variance Analysis in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Analysis Dashboard with Power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your Xero budget against actual performance, identify favourable and adverse variances, substantiate them as a budget manager and present the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budget-to-actual variance analysis report identifying and substantiating favourable and adverse variances,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report shows dollar and percentage variances for each key account, labels each as favourable or adverse, substantiates the material ones, and was presented to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Connect Microsoft Power BI to your Xero organisation and build a dashboard that analyses cash flow, overdue invoices and bills, and profitability.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Power BI dashboard fed daily from Xero contacts, invoices, bills and trial balance.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Power BI, Xero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Power BI displays the Xero dashboard for your organisation and you can read off cash-flow, receivables and profitability insights that support budget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LO5 — Perform financial analysis to highlight discrepancies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Budget approval process · Stakeholder precautions 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A6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Stakeholders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Boards are ambitious, mid-management conservative — the budgeting committee reconciles and 'sells' the final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of past year, goals and objectives, rolling forecast, plan details and realistic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 → departmental review → budget committee → board approval → communicated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Communicate fast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approved plan adds no value until business units receive it and start tracking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Slow approvals, no tracking framework, manual effort and no single source of truth for spend.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tooling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Robust tracking tools, frameworks and resources make approval meaningful.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DRAFT TO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Annual Budget Approval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submit draft budgets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committee reviews &amp; consolidates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Revisions — numbers are 'opened up' and re-sold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reviews and approves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 plan communicated for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TO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Precautions — the Approval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of past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Highlight your successes and changes to last year's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Goals and 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succinct overview of the basis for your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Rolling monthly/quarterly forecast of plans including costs, in bullets.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 details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Outline key operational areas and specific projects.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Realistic costs for each project and operational expense.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Approval — Common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approval process takes longer than it should.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approved plan is not communicated to business units in time to start 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 adds no value without a robust tracking tool, framework and resources.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Manual effort makes budgeting tiring — nobody wants to do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transparency on spend without one golden source of truth.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the budget approval process, the stakeholder precautions and the common approval issues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approval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walk through the approval pack a budget manager presents — and the common issues that stall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LO6 — Report budget and seek approval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taxation policies · Financial control and compliance 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A7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tax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tax under the Income Tax Act on income derived from or remitted into Singapore — flat 17% on chargeable income.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is tax-resident where control and management are exercised — usually where board meetings are held.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 of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in which income is assessed — YA follows the financial year 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Start-Up Exemption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 3 YAs: 75% exemption on the first S$100k and 50% on the next S$100k of chargeable income.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ECI &amp; filing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File Estimated Chargeable Income within 3 months of FY end; e-File corporate tax by 30 Nov.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Penalties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Late filing risks prosecution; late payment attracts 5% penalty plus 1% per month up to 12%.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Singapore Corporate Taxation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Who pays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corporate tax under the Income Tax Act on chargeable income derived from Singapore or foreign income remitted into Singapore.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Flat rate 17%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Levied on chargeable income = taxable revenues − deductible expenses.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Resident where control and management are exercised — generally where board meetings are held.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Resident benefits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Start-up exemptions and Avoidance of Double Taxation Agreements (DTAs).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Year of Assessment (YA)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12-month period in which the company's income is assessed.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earned in a financial year is assessed in the YA following the financial year 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YA 2018, the basis period is generally 1 Apr 2016 – 31 Mar 2017.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YA determines exemption eligibility and every filing deadline.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TAX-RESIDENT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Exemption (first 3 YAs)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first S$100,000 of chargeable income (from YA 2020).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50%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next S$100,000 of chargeable income.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Withholding 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Payable on certain payments to non-resident companies.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DTA relief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Tax-residents avoid double taxation on income taxed in DTA partner countries.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FILING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&amp; Corporate Tax Filing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Income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ECI — Estimated Chargeable Income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 estimate of taxable income for the YA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File within 3 months of the financial year end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Applies to all companies unless exempted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Corporate tax return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e-File by 30 November (paper phased out from YA 2020)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 December online concession no longer applies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All corporate tax documents filed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Penalties for Late or Non-Payment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filing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offence — company officers (e.g. directors) may be prosecuted in court.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payment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5% penalty, plus 1% per month the tax remains unpaid (up to 12% in total).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Enforcement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IRAS may take further enforcement or legal action to recover unpaid tax.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Stay compliant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tax deadlines into the budget calendar and cash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Determining the Year of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ECI and Corporate Tax Filing Deadlines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Start-Up Tax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Work out the Year of Assessment (YA) for a set of company financial years, applying IRAS's rule that the YA is the year following the financial year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YA worksheet mapping each financial year to its Year of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YA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assigns the correct YA to all three financial years (YA 2021, YA 2021 and YA 2021 respectively — the YA following each financial year end).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Determine when a company must file its Estimated Chargeable Income (ECI) and its corporate income tax return for a set of financial year 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filing-deadline worksheet showing the ECI deadline and income-tax filing deadline for each financial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Filing-deadline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shows the ECI deadline (FY end + 3 months) and the correct income-tax e-Filing deadline for each financial year, and you can state the late-filing and late-payment penalties.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Compute the corporate tax payable by a start-up over its first five years of profits, applying the Start-Up Tax Exemption Scheme and the 17% corporate tax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5-year tax computation for a start-up using the provided template.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Tax computation template (Google Classroom), calculator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template shows, for each of the five years, the exemption applied, the chargeable income after exemption and the tax at 17% — with years 1–3 using the Start-Up Tax Exemption.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LO7 — Perform financial control to ensure compliance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strategies, statements and budget types with Xero (LO1).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forecasting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Forecast a full year in Xero Budget Manager from real assumptions (LO2).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preparation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the 99 Agency master budget through all 7 schedules (LO3).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Prepared control plans across operating, cash and capex budgets (LO4).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variances and built a Power BI dashboard on Xero (LO5).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&amp; 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Reported budgets for approval and applied Singapore tax rules (LO6, LO7).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IBF — Financial Analysis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Accounting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Generative AI for Finance and Fintech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Unlocking the Power of Accounting and Tax Systems for SMEs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Python Programming for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BUDGETING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forecast, prepare, control, analyse and report the budget of a small or medium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